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828" y="-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Entry price</c:v>
                </c:pt>
              </c:strCache>
            </c:strRef>
          </c:tx>
          <c:spPr>
            <a:solidFill>
              <a:srgbClr val="0E9C8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100" b="0" i="0" u="none" strike="noStrike" kern="1200" baseline="0">
                    <a:solidFill>
                      <a:srgbClr val="12153D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GitHub Copilot</c:v>
                </c:pt>
                <c:pt idx="1">
                  <c:v>Cursor</c:v>
                </c:pt>
                <c:pt idx="2">
                  <c:v>Replit AI</c:v>
                </c:pt>
                <c:pt idx="3">
                  <c:v>Gemini Code Assist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20</c:v>
                </c:pt>
                <c:pt idx="3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6A6F92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3F5FC"/>
        </a:solidFill>
        <a:ln>
          <a:noFill/>
        </a:ln>
        <a:effectLst/>
      </c:spPr>
    </c:plotArea>
    <c:plotVisOnly val="1"/>
    <c:dispBlanksAs val="span"/>
    <c:showDLblsOverMax val="1"/>
    <c:extLst>
      <c:ext uri="{0b15fc19-7d7d-44ad-8c2d-2c3a37ce22c3}">
        <chartProps xmlns="https://web.wps.cn/et/2018/main" chartId="{c48d5abe-618a-4056-b46e-c23cbee43f66}"/>
      </c:ext>
    </c:extLst>
  </c:chart>
  <c:spPr>
    <a:solidFill>
      <a:srgbClr val="F3F5FC"/>
    </a:solidFill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4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120640" cy="5120640"/>
          </a:xfrm>
          <a:prstGeom prst="ellipse">
            <a:avLst/>
          </a:prstGeom>
          <a:solidFill>
            <a:srgbClr val="1C2158"/>
          </a:solidFill>
        </p:spPr>
      </p:sp>
      <p:sp>
        <p:nvSpPr>
          <p:cNvPr id="3" name="Shape 1"/>
          <p:cNvSpPr/>
          <p:nvPr/>
        </p:nvSpPr>
        <p:spPr>
          <a:xfrm>
            <a:off x="9692640" y="-640080"/>
            <a:ext cx="3474720" cy="3474720"/>
          </a:xfrm>
          <a:prstGeom prst="ellipse">
            <a:avLst/>
          </a:prstGeom>
          <a:solidFill>
            <a:srgbClr val="252B6B"/>
          </a:solidFill>
        </p:spPr>
      </p:sp>
      <p:sp>
        <p:nvSpPr>
          <p:cNvPr id="4" name="Shape 2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C2158"/>
          </a:solidFill>
        </p:spPr>
      </p:sp>
      <p:sp>
        <p:nvSpPr>
          <p:cNvPr id="5" name="Text 3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 ·  CODING TOOLS CATEGORY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987552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Exploring AI Coding Assistants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8778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study of GitHub Copilot, Cursor, Replit AI, and Gemini Code Assist — features, pricing, availability, and real-world data-analysis performance.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51560" y="5534025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1C2158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760855" y="5559425"/>
            <a:ext cx="4411345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1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&amp; 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today's leading AI coding assistants through hands-on comparison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2153D"/>
          </a:solidFill>
        </p:spPr>
      </p:sp>
      <p:sp>
        <p:nvSpPr>
          <p:cNvPr id="5" name="Text 3"/>
          <p:cNvSpPr/>
          <p:nvPr/>
        </p:nvSpPr>
        <p:spPr>
          <a:xfrm>
            <a:off x="914400" y="1737360"/>
            <a:ext cx="3657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  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993392"/>
            <a:ext cx="10332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popular AI tools in the Coding category and understand their features, strengths, limitations, and practical applications for real developers.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5486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SELECTED: CODING TOOLS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2606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337560"/>
            <a:ext cx="26060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3337560"/>
            <a:ext cx="2606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3337560"/>
            <a:ext cx="26060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3337560"/>
            <a:ext cx="2606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3337560"/>
            <a:ext cx="26060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Replit AI (Agent)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869680" y="3337560"/>
            <a:ext cx="2606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3337560"/>
            <a:ext cx="26060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Code Assist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25196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TOOL WAS EVALUATED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344168" y="466344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E0C7"/>
            </a:solidFill>
            <a:prstDash val="solid"/>
          </a:ln>
        </p:spPr>
      </p:sp>
      <p:pic>
        <p:nvPicPr>
          <p:cNvPr id="18" name="Image 0" descr="/home/claude/proj/icons_searc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4828032"/>
            <a:ext cx="402336" cy="40233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40080" y="5486400"/>
            <a:ext cx="2139696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&amp;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483864" y="466344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E0C7"/>
            </a:solidFill>
            <a:prstDash val="solid"/>
          </a:ln>
        </p:spPr>
      </p:sp>
      <p:pic>
        <p:nvPicPr>
          <p:cNvPr id="21" name="Image 1" descr="/home/claude/proj/icons_do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456" y="4828032"/>
            <a:ext cx="402336" cy="40233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779776" y="5486400"/>
            <a:ext cx="2139696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vs.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Licensing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623560" y="466344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E0C7"/>
            </a:solidFill>
            <a:prstDash val="solid"/>
          </a:ln>
        </p:spPr>
      </p:sp>
      <p:pic>
        <p:nvPicPr>
          <p:cNvPr id="24" name="Image 2" descr="/home/claude/proj/icons_mon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52" y="482803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919472" y="5486400"/>
            <a:ext cx="2139696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7763256" y="466344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E0C7"/>
            </a:solidFill>
            <a:prstDash val="solid"/>
          </a:ln>
        </p:spPr>
      </p:sp>
      <p:pic>
        <p:nvPicPr>
          <p:cNvPr id="27" name="Image 3" descr="/home/claude/proj/icons_bar-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4828032"/>
            <a:ext cx="402336" cy="40233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059168" y="5486400"/>
            <a:ext cx="2139696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9902952" y="466344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E0C7"/>
            </a:solidFill>
            <a:prstDash val="solid"/>
          </a:ln>
        </p:spPr>
      </p:sp>
      <p:pic>
        <p:nvPicPr>
          <p:cNvPr id="30" name="Image 4" descr="/home/claude/proj/icons_pl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7544" y="4828032"/>
            <a:ext cx="402336" cy="40233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198864" y="5486400"/>
            <a:ext cx="2139696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Prompt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2153D"/>
          </a:solidFill>
        </p:spPr>
      </p:sp>
      <p:sp>
        <p:nvSpPr>
          <p:cNvPr id="3" name="Shape 1"/>
          <p:cNvSpPr/>
          <p:nvPr/>
        </p:nvSpPr>
        <p:spPr>
          <a:xfrm>
            <a:off x="777240" y="594360"/>
            <a:ext cx="685800" cy="685800"/>
          </a:xfrm>
          <a:prstGeom prst="ellipse">
            <a:avLst/>
          </a:prstGeom>
          <a:solidFill>
            <a:srgbClr val="0E9C86"/>
          </a:solidFill>
        </p:spPr>
      </p:sp>
      <p:pic>
        <p:nvPicPr>
          <p:cNvPr id="4" name="Image 0" descr="/home/claude/proj/icons_git-branc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749808"/>
            <a:ext cx="374904" cy="3749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502920"/>
            <a:ext cx="7315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Copilot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1645920" y="93268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(a Microsoft subsidiary), built with OpenAI  ·  Launched October 2021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95360" y="502920"/>
            <a:ext cx="28346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“Your AI pair programmer”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54864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 CASES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2011680"/>
            <a:ext cx="5623560" cy="1965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code completions and Next Edit Suggestions in-editor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Chat for Q&amp;A, debugging, and code explanation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coding agent for multi-file, background tasks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model catalog (GPT, Claude, Gemini) via auto-selection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use: everyday completion, PR review, issue-to-code planning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069080"/>
            <a:ext cx="5623560" cy="777240"/>
          </a:xfrm>
          <a:prstGeom prst="roundRect">
            <a:avLst>
              <a:gd name="adj" fmla="val 8235"/>
            </a:avLst>
          </a:prstGeom>
          <a:solidFill>
            <a:srgbClr val="E7F8F4"/>
          </a:solidFill>
        </p:spPr>
      </p:sp>
      <p:pic>
        <p:nvPicPr>
          <p:cNvPr id="11" name="Image 1" descr="/home/claude/proj/icon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2452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4114800"/>
            <a:ext cx="498348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</a:t>
            </a:r>
            <a:r>
              <a:rPr lang="en-US" sz="11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Deepest GitHub/PR integration and the widest IDE support of any assistant tested.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937760"/>
            <a:ext cx="5623560" cy="777240"/>
          </a:xfrm>
          <a:prstGeom prst="roundRect">
            <a:avLst>
              <a:gd name="adj" fmla="val 8235"/>
            </a:avLst>
          </a:prstGeom>
          <a:solidFill>
            <a:srgbClr val="FBEAE5"/>
          </a:solidFill>
        </p:spPr>
      </p:sp>
      <p:pic>
        <p:nvPicPr>
          <p:cNvPr id="14" name="Image 2" descr="/home/claude/proj/icons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09320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97280" y="4983480"/>
            <a:ext cx="498348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</a:t>
            </a:r>
            <a:r>
              <a:rPr lang="en-US" sz="11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shift to usage-based AI credits made costs less predictable for heavy agent users.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6446520" y="1691640"/>
            <a:ext cx="52120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VS. PAID LICENSING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46520" y="201168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675120" y="2148840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$0/mo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675120" y="2377440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completions/mo, limited chat &amp; agent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675120" y="2724912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$10/mo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675120" y="2953512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completions + monthly AI credits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675120" y="3300984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Pro+ / Business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 / $19/mo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6675120" y="3529584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model access &amp; org-wide policy control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446520" y="3977640"/>
            <a:ext cx="52120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46520" y="42976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2153D"/>
          </a:solidFill>
        </p:spPr>
      </p:sp>
      <p:sp>
        <p:nvSpPr>
          <p:cNvPr id="26" name="Text 21"/>
          <p:cNvSpPr/>
          <p:nvPr/>
        </p:nvSpPr>
        <p:spPr>
          <a:xfrm>
            <a:off x="6675120" y="4443984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(github.com/copilot)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675120" y="4773168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macOS, Linux (VS Code, Visual Studio, JetBrains)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675120" y="5102352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/ iOS (GitHub Mobile)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2153D"/>
          </a:solidFill>
        </p:spPr>
      </p:sp>
      <p:sp>
        <p:nvSpPr>
          <p:cNvPr id="3" name="Shape 1"/>
          <p:cNvSpPr/>
          <p:nvPr/>
        </p:nvSpPr>
        <p:spPr>
          <a:xfrm>
            <a:off x="777240" y="594360"/>
            <a:ext cx="685800" cy="685800"/>
          </a:xfrm>
          <a:prstGeom prst="ellipse">
            <a:avLst/>
          </a:prstGeom>
          <a:solidFill>
            <a:srgbClr val="E8623D"/>
          </a:solidFill>
        </p:spPr>
      </p:sp>
      <p:pic>
        <p:nvPicPr>
          <p:cNvPr id="4" name="Image 0" descr="/home/claude/proj/icons_edit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749808"/>
            <a:ext cx="374904" cy="3749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502920"/>
            <a:ext cx="7315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Cursor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1645920" y="93268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Anysphere, Inc.  ·  Launched 2023 (VS Code fork)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95360" y="502920"/>
            <a:ext cx="28346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AI-native code editor, not a plugin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54864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 CASES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2011680"/>
            <a:ext cx="5623560" cy="1965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editor rebuilt around AI (fork of VS Code)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— fast, multi-line, project-aware autocomplete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 for autonomous multi-file edits &amp; refactors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Bugbot — automatic AI code review on pull requests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use: large refactors, fast prototyping, full-repo edits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069080"/>
            <a:ext cx="5623560" cy="777240"/>
          </a:xfrm>
          <a:prstGeom prst="roundRect">
            <a:avLst>
              <a:gd name="adj" fmla="val 8235"/>
            </a:avLst>
          </a:prstGeom>
          <a:solidFill>
            <a:srgbClr val="E7F8F4"/>
          </a:solidFill>
        </p:spPr>
      </p:sp>
      <p:pic>
        <p:nvPicPr>
          <p:cNvPr id="11" name="Image 1" descr="/home/claude/proj/icon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2452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4114800"/>
            <a:ext cx="498348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</a:t>
            </a:r>
            <a:r>
              <a:rPr lang="en-US" sz="11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Deepest whole-codebase context; fastest for large, complex refactors and agentic edits.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937760"/>
            <a:ext cx="5623560" cy="777240"/>
          </a:xfrm>
          <a:prstGeom prst="roundRect">
            <a:avLst>
              <a:gd name="adj" fmla="val 8235"/>
            </a:avLst>
          </a:prstGeom>
          <a:solidFill>
            <a:srgbClr val="FBEAE5"/>
          </a:solidFill>
        </p:spPr>
      </p:sp>
      <p:pic>
        <p:nvPicPr>
          <p:cNvPr id="14" name="Image 2" descr="/home/claude/proj/icons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09320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97280" y="4983480"/>
            <a:ext cx="498348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</a:t>
            </a:r>
            <a:r>
              <a:rPr lang="en-US" sz="11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Pricier entry point than Copilot; usage-based credits can spike unexpectedly on heavy use.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6446520" y="1691640"/>
            <a:ext cx="52120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VS. PAID LICENSING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46520" y="201168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675120" y="2148840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$0/mo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675120" y="2377440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Tab completions &amp; agent requests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675120" y="2724912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$20/mo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675120" y="2953512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Tab + $20 monthly usage-credit pool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675120" y="3300984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Pro+ / Ultra / Teams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 / $200 / $40 (seat)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6675120" y="3529584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credit pools &amp; admin controls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446520" y="3977640"/>
            <a:ext cx="52120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46520" y="42976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2153D"/>
          </a:solidFill>
        </p:spPr>
      </p:sp>
      <p:sp>
        <p:nvSpPr>
          <p:cNvPr id="26" name="Text 21"/>
          <p:cNvSpPr/>
          <p:nvPr/>
        </p:nvSpPr>
        <p:spPr>
          <a:xfrm>
            <a:off x="6675120" y="4443984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app: Windows, macOS, Linux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675120" y="4773168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for account &amp; billing only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675120" y="5102352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mobile app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2153D"/>
          </a:solidFill>
        </p:spPr>
      </p:sp>
      <p:sp>
        <p:nvSpPr>
          <p:cNvPr id="3" name="Shape 1"/>
          <p:cNvSpPr/>
          <p:nvPr/>
        </p:nvSpPr>
        <p:spPr>
          <a:xfrm>
            <a:off x="777240" y="594360"/>
            <a:ext cx="685800" cy="685800"/>
          </a:xfrm>
          <a:prstGeom prst="ellipse">
            <a:avLst/>
          </a:prstGeom>
          <a:solidFill>
            <a:srgbClr val="3A6FF0"/>
          </a:solidFill>
        </p:spPr>
      </p:sp>
      <p:pic>
        <p:nvPicPr>
          <p:cNvPr id="4" name="Image 0" descr="/home/claude/proj/icons_clou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749808"/>
            <a:ext cx="374904" cy="3749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502920"/>
            <a:ext cx="7315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Replit AI (Agent)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1645920" y="93268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Replit, Inc.  ·  Launched 2023 (Agent), on Replit's cloud IDE since 2016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95360" y="502920"/>
            <a:ext cx="28346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deployed app, in the browser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54864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 CASES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2011680"/>
            <a:ext cx="5623560" cy="1965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Replit Agent builds full-stack apps from natural language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Reads, writes, tests, and fixes its own code autonomously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hosting, database, and one-click deployment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for building and checking on projects on the go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use: rapid MVPs, learning to code, solo full-stack builds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069080"/>
            <a:ext cx="5623560" cy="777240"/>
          </a:xfrm>
          <a:prstGeom prst="roundRect">
            <a:avLst>
              <a:gd name="adj" fmla="val 8235"/>
            </a:avLst>
          </a:prstGeom>
          <a:solidFill>
            <a:srgbClr val="E7F8F4"/>
          </a:solidFill>
        </p:spPr>
      </p:sp>
      <p:pic>
        <p:nvPicPr>
          <p:cNvPr id="11" name="Image 1" descr="/home/claude/proj/icon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2452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4114800"/>
            <a:ext cx="498348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</a:t>
            </a:r>
            <a:r>
              <a:rPr lang="en-US" sz="11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 from idea to a deployed, working full-stack application — great for beginners.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937760"/>
            <a:ext cx="5623560" cy="777240"/>
          </a:xfrm>
          <a:prstGeom prst="roundRect">
            <a:avLst>
              <a:gd name="adj" fmla="val 8235"/>
            </a:avLst>
          </a:prstGeom>
          <a:solidFill>
            <a:srgbClr val="FBEAE5"/>
          </a:solidFill>
        </p:spPr>
      </p:sp>
      <p:pic>
        <p:nvPicPr>
          <p:cNvPr id="14" name="Image 2" descr="/home/claude/proj/icons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09320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97280" y="4983480"/>
            <a:ext cx="498348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</a:t>
            </a:r>
            <a:r>
              <a:rPr lang="en-US" sz="11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Effort-based Agent credit billing is harder to predict; less suited to large enterprise codebases.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6446520" y="1691640"/>
            <a:ext cx="52120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VS. PAID LICENSING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46520" y="201168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675120" y="2148840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$0/mo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675120" y="2377440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Agent credits, 1 public app, 1,200 min/mo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675120" y="2724912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$20–$25/mo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675120" y="2953512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$20–$25 usage credits, private apps, deployments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675120" y="3300984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/ Enterprise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$100/mo / custom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6675120" y="3529584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15 builders, pooled credits, SSO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446520" y="3977640"/>
            <a:ext cx="52120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46520" y="42976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2153D"/>
          </a:solidFill>
        </p:spPr>
      </p:sp>
      <p:sp>
        <p:nvSpPr>
          <p:cNvPr id="26" name="Text 21"/>
          <p:cNvSpPr/>
          <p:nvPr/>
        </p:nvSpPr>
        <p:spPr>
          <a:xfrm>
            <a:off x="6675120" y="4443984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(browser-based cloud IDE)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675120" y="4773168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on Windows, macOS, Linux via browser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675120" y="5102352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/ iOS (Replit mobile app)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2153D"/>
          </a:solidFill>
        </p:spPr>
      </p:sp>
      <p:sp>
        <p:nvSpPr>
          <p:cNvPr id="3" name="Shape 1"/>
          <p:cNvSpPr/>
          <p:nvPr/>
        </p:nvSpPr>
        <p:spPr>
          <a:xfrm>
            <a:off x="777240" y="594360"/>
            <a:ext cx="685800" cy="685800"/>
          </a:xfrm>
          <a:prstGeom prst="ellipse">
            <a:avLst/>
          </a:prstGeom>
          <a:solidFill>
            <a:srgbClr val="9C6ADE"/>
          </a:solidFill>
        </p:spPr>
      </p:sp>
      <p:pic>
        <p:nvPicPr>
          <p:cNvPr id="4" name="Image 0" descr="/home/claude/proj/icons_z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749808"/>
            <a:ext cx="374904" cy="3749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502920"/>
            <a:ext cx="7315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Code Assist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1645920" y="93268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Launched 2024 (rebrand of Duet AI)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95360" y="502920"/>
            <a:ext cx="28346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Google's coding assistant, built on Gemini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54864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 CASES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2011680"/>
            <a:ext cx="5623560" cy="1965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completions, AI chat, and code transformation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unit-test generation and AI code review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 with MCP (Model Context Protocol) support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1-million-token context window — largest of the group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2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use: large-codebase reasoning, GCP-native development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069080"/>
            <a:ext cx="5623560" cy="777240"/>
          </a:xfrm>
          <a:prstGeom prst="roundRect">
            <a:avLst>
              <a:gd name="adj" fmla="val 8235"/>
            </a:avLst>
          </a:prstGeom>
          <a:solidFill>
            <a:srgbClr val="E7F8F4"/>
          </a:solidFill>
        </p:spPr>
      </p:sp>
      <p:pic>
        <p:nvPicPr>
          <p:cNvPr id="11" name="Image 1" descr="/home/claude/proj/icon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2452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4114800"/>
            <a:ext cx="498348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</a:t>
            </a:r>
            <a:r>
              <a:rPr lang="en-US" sz="11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generous free tier in the category, plus the largest context window for reasoning over big codebases.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937760"/>
            <a:ext cx="5623560" cy="777240"/>
          </a:xfrm>
          <a:prstGeom prst="roundRect">
            <a:avLst>
              <a:gd name="adj" fmla="val 8235"/>
            </a:avLst>
          </a:prstGeom>
          <a:solidFill>
            <a:srgbClr val="FBEAE5"/>
          </a:solidFill>
        </p:spPr>
      </p:sp>
      <p:pic>
        <p:nvPicPr>
          <p:cNvPr id="14" name="Image 2" descr="/home/claude/proj/icons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09320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97280" y="4983480"/>
            <a:ext cx="498348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</a:t>
            </a:r>
            <a:r>
              <a:rPr lang="en-US" sz="115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Historically fewer third-party IDE integrations; best value is tied to the Google Cloud ecosystem.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6446520" y="1691640"/>
            <a:ext cx="52120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VS. PAID LICENSING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46520" y="201168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675120" y="2148840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(Individuals)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$0/mo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675120" y="2377440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completions/day, 240 chat/day, no card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675120" y="2724912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~$19–$23/mo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675120" y="2953512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quotas, private codebase indexing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675120" y="3300984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 </a:t>
            </a:r>
            <a:r>
              <a:rPr lang="en-US" sz="1250" b="1" dirty="0">
                <a:solidFill>
                  <a:srgbClr val="0E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~$45–$54/mo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6675120" y="3529584"/>
            <a:ext cx="47548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Google Cloud integration &amp; admin controls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446520" y="3977640"/>
            <a:ext cx="52120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46520" y="42976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2153D"/>
          </a:solidFill>
        </p:spPr>
      </p:sp>
      <p:sp>
        <p:nvSpPr>
          <p:cNvPr id="26" name="Text 21"/>
          <p:cNvSpPr/>
          <p:nvPr/>
        </p:nvSpPr>
        <p:spPr>
          <a:xfrm>
            <a:off x="6675120" y="4443984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(Google Cloud console)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675120" y="4773168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macOS, Linux (VS Code, JetBrains extensions)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675120" y="5102352"/>
            <a:ext cx="4754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Companion: Gemini CLI (terminal, free tier)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Demonstration: One Prompt, Same Task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 prompt was run to test real coding output — exactly as the assignment requires.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C2158"/>
          </a:solidFill>
          <a:ln w="12700">
            <a:solidFill>
              <a:srgbClr val="5DE0C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36192"/>
            <a:ext cx="10332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USED:  </a:t>
            </a: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“Write a Python function that reads a CSV file, calculates the average of a numeric column, and handles an empty file gracefully.”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6400800" cy="3749040"/>
          </a:xfrm>
          <a:prstGeom prst="roundRect">
            <a:avLst>
              <a:gd name="adj" fmla="val 1463"/>
            </a:avLst>
          </a:prstGeom>
          <a:solidFill>
            <a:srgbClr val="0B0D28"/>
          </a:solidFill>
        </p:spPr>
      </p:sp>
      <p:sp>
        <p:nvSpPr>
          <p:cNvPr id="7" name="Text 5"/>
          <p:cNvSpPr/>
          <p:nvPr/>
        </p:nvSpPr>
        <p:spPr>
          <a:xfrm>
            <a:off x="868680" y="2606040"/>
            <a:ext cx="5989320" cy="3520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import csv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def calculate_column_average(file_path, column_name):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total, count = 0.0, 0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try: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with open(file_path, newline='',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  encoding='utf-8') as file: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reader = csv.DictReader(file)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if reader.fieldnames is None: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return None  # empty file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if column_name not in reader.fieldnames: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return None  # column missing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for row in reader: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val = row[column_name]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if val and val.strip():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    try: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        total += float(val)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        count += 1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    except ValueError: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                continue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except FileNotFoundError: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return None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8FF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return total / count if count else None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0" y="2487168"/>
            <a:ext cx="420624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SAFETY CHECKS PRODUCED</a:t>
            </a:r>
            <a:endParaRPr lang="en-US" sz="1250" dirty="0"/>
          </a:p>
        </p:txBody>
      </p:sp>
      <p:pic>
        <p:nvPicPr>
          <p:cNvPr id="9" name="Image 0" descr="/home/claude/proj/icons_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28346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99248" y="2779776"/>
            <a:ext cx="38404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file:  </a:t>
            </a:r>
            <a:r>
              <a:rPr lang="en-US" sz="110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 zero-byte file and exits cleanly before reading rows.</a:t>
            </a:r>
            <a:endParaRPr lang="en-US" sz="1100" dirty="0"/>
          </a:p>
        </p:txBody>
      </p:sp>
      <p:pic>
        <p:nvPicPr>
          <p:cNvPr id="11" name="Image 1" descr="/home/claude/proj/icons_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349300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99248" y="3438144"/>
            <a:ext cx="38404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column:  </a:t>
            </a:r>
            <a:r>
              <a:rPr lang="en-US" sz="110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requested column exists in the CSV header.</a:t>
            </a:r>
            <a:endParaRPr lang="en-US" sz="1100" dirty="0"/>
          </a:p>
        </p:txBody>
      </p:sp>
      <p:pic>
        <p:nvPicPr>
          <p:cNvPr id="13" name="Image 2" descr="/home/claude/proj/icons_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41513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699248" y="4096512"/>
            <a:ext cx="38404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data:  </a:t>
            </a:r>
            <a:r>
              <a:rPr lang="en-US" sz="110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blank cells and non-numeric values without crashing.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7315200" y="4983480"/>
            <a:ext cx="4251960" cy="1097280"/>
          </a:xfrm>
          <a:prstGeom prst="roundRect">
            <a:avLst>
              <a:gd name="adj" fmla="val 5833"/>
            </a:avLst>
          </a:prstGeom>
          <a:solidFill>
            <a:srgbClr val="1C2158"/>
          </a:solidFill>
        </p:spPr>
      </p:sp>
      <p:sp>
        <p:nvSpPr>
          <p:cNvPr id="16" name="Text 11"/>
          <p:cNvSpPr/>
          <p:nvPr/>
        </p:nvSpPr>
        <p:spPr>
          <a:xfrm>
            <a:off x="7516368" y="5074920"/>
            <a:ext cx="3886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assistants are chat-and-agent based LLM tools, so each one accepts this exact prompt and returns runnable Python with equivalent error-handling logic — the differences show up in speed, editor integration, and follow-up refinement, not raw code correctness.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These Tools for Data Analysis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33272"/>
            <a:ext cx="10058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assistants don't analyze data directly — they write the code that does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01368"/>
            <a:ext cx="548640" cy="548640"/>
          </a:xfrm>
          <a:prstGeom prst="ellipse">
            <a:avLst/>
          </a:prstGeom>
          <a:solidFill>
            <a:srgbClr val="12153D"/>
          </a:solidFill>
        </p:spPr>
      </p:sp>
      <p:pic>
        <p:nvPicPr>
          <p:cNvPr id="6" name="Image 0" descr="/home/claude/proj/icons_file-tex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929384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37360"/>
            <a:ext cx="4251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CSV files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554480" y="2075688"/>
            <a:ext cx="4251960" cy="868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Python (pandas) or R scripts that read, clean, and merge spreadsheet data.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6263640" y="16002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64808" y="1801368"/>
            <a:ext cx="548640" cy="548640"/>
          </a:xfrm>
          <a:prstGeom prst="ellipse">
            <a:avLst/>
          </a:prstGeom>
          <a:solidFill>
            <a:srgbClr val="12153D"/>
          </a:solidFill>
        </p:spPr>
      </p:sp>
      <p:pic>
        <p:nvPicPr>
          <p:cNvPr id="11" name="Image 1" descr="/home/claude/proj/icons_pie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929384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78040" y="1737360"/>
            <a:ext cx="4251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&amp; visuals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178040" y="2075688"/>
            <a:ext cx="4251960" cy="868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matplotlib / seaborn / plotly code to render charts — not a built-in chart engine.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640080" y="315468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1248" y="3355848"/>
            <a:ext cx="548640" cy="548640"/>
          </a:xfrm>
          <a:prstGeom prst="ellipse">
            <a:avLst/>
          </a:prstGeom>
          <a:solidFill>
            <a:srgbClr val="12153D"/>
          </a:solidFill>
        </p:spPr>
      </p:sp>
      <p:pic>
        <p:nvPicPr>
          <p:cNvPr id="16" name="Image 2" descr="/home/claude/proj/icons_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483864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3291840"/>
            <a:ext cx="4251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Python or R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554480" y="3630168"/>
            <a:ext cx="4251960" cy="868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write fluent SQL queries and Python/R scripts on request.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6263640" y="315468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64808" y="3355848"/>
            <a:ext cx="548640" cy="548640"/>
          </a:xfrm>
          <a:prstGeom prst="ellipse">
            <a:avLst/>
          </a:prstGeom>
          <a:solidFill>
            <a:srgbClr val="12153D"/>
          </a:solidFill>
        </p:spPr>
      </p:sp>
      <p:pic>
        <p:nvPicPr>
          <p:cNvPr id="21" name="Image 3" descr="/home/claude/proj/icons_bar-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3483864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78040" y="3291840"/>
            <a:ext cx="4251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summaries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178040" y="3630168"/>
            <a:ext cx="4251960" cy="868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panels can explain a dataset's patterns once results are pasted in or shared.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640080" y="47091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41248" y="4910328"/>
            <a:ext cx="548640" cy="548640"/>
          </a:xfrm>
          <a:prstGeom prst="ellipse">
            <a:avLst/>
          </a:prstGeom>
          <a:solidFill>
            <a:srgbClr val="12153D"/>
          </a:solidFill>
        </p:spPr>
      </p:sp>
      <p:pic>
        <p:nvPicPr>
          <p:cNvPr id="26" name="Image 4" descr="/home/claude/proj/icons_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5038344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54480" y="4846320"/>
            <a:ext cx="4251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554480" y="5184648"/>
            <a:ext cx="4251960" cy="868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dashboard code (Streamlit, Dash) rather than generate a finished dashboard.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6263640" y="47091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DCF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64808" y="4910328"/>
            <a:ext cx="548640" cy="548640"/>
          </a:xfrm>
          <a:prstGeom prst="ellipse">
            <a:avLst/>
          </a:prstGeom>
          <a:solidFill>
            <a:srgbClr val="12153D"/>
          </a:solidFill>
        </p:spPr>
      </p:sp>
      <p:pic>
        <p:nvPicPr>
          <p:cNvPr id="31" name="Image 5" descr="/home/claude/proj/icons_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4" y="5038344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78040" y="4846320"/>
            <a:ext cx="4251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1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use case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178040" y="5184648"/>
            <a:ext cx="4251960" cy="868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analyst pairs Cursor or Copilot to auto-clean messy sales CSVs and compute monthly KPIs.</a:t>
            </a:r>
            <a:endParaRPr lang="en-US" sz="108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at a Glance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640080" y="1143000"/>
          <a:ext cx="10881360" cy="25146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1828800"/>
                <a:gridCol w="2194560"/>
                <a:gridCol w="2377440"/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Tool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Entry Price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Free Tier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Standout Feature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1E33"/>
                          </a:solidFill>
                        </a:rPr>
                        <a:t>GitHub Copilot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GitHub (Microsoft)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$10/mo (Pro)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2,000 completions/mo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Widest IDE &amp; GitHub integration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1E33"/>
                          </a:solidFill>
                        </a:rPr>
                        <a:t>Cursor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Anysphere, Inc.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$20/mo (Pro)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Limited Hobby tier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AI-native editor, best for refactors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1E33"/>
                          </a:solidFill>
                        </a:rPr>
                        <a:t>Replit AI (Agent)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Replit, Inc.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$20–$25/mo (Core)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1 app, daily credits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Idea → deployed app in one flow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1E33"/>
                          </a:solidFill>
                        </a:rPr>
                        <a:t>Gemini Code Assist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Google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Free (individuals)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6,000 completions/day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1E33"/>
                          </a:solidFill>
                        </a:rPr>
                        <a:t>Largest free tier &amp; context window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9776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PRICE COMPARISON ($/MONTH, INDIVIDUAL PLAN)</a:t>
            </a:r>
            <a:endParaRPr lang="en-US" sz="11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02920" y="4251960"/>
          <a:ext cx="66751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7498080" y="4251960"/>
            <a:ext cx="4023360" cy="2331720"/>
          </a:xfrm>
          <a:prstGeom prst="roundRect">
            <a:avLst>
              <a:gd name="adj" fmla="val 3137"/>
            </a:avLst>
          </a:prstGeom>
          <a:solidFill>
            <a:srgbClr val="12153D"/>
          </a:solidFill>
        </p:spPr>
      </p:sp>
      <p:sp>
        <p:nvSpPr>
          <p:cNvPr id="7" name="Text 3"/>
          <p:cNvSpPr/>
          <p:nvPr/>
        </p:nvSpPr>
        <p:spPr>
          <a:xfrm>
            <a:off x="7726680" y="4389120"/>
            <a:ext cx="35661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TABLE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7726680" y="4709160"/>
            <a:ext cx="3566160" cy="17373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alone doesn't decide the winner. Gemini Code Assist's free tier is the most generous; Cursor and Replit trade a higher price for deeper agentic autonomy; Copilot wins on ecosystem breadth. The next slide turns this into clear recommendations.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3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6F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1828800"/>
            <a:ext cx="4937760" cy="4937760"/>
          </a:xfrm>
          <a:prstGeom prst="ellipse">
            <a:avLst/>
          </a:prstGeom>
          <a:solidFill>
            <a:srgbClr val="1C2158"/>
          </a:solidFill>
        </p:spPr>
      </p:sp>
      <p:sp>
        <p:nvSpPr>
          <p:cNvPr id="3" name="Shape 1"/>
          <p:cNvSpPr/>
          <p:nvPr/>
        </p:nvSpPr>
        <p:spPr>
          <a:xfrm>
            <a:off x="9875520" y="4206240"/>
            <a:ext cx="4572000" cy="4572000"/>
          </a:xfrm>
          <a:prstGeom prst="ellipse">
            <a:avLst/>
          </a:prstGeom>
          <a:solidFill>
            <a:srgbClr val="1C2158"/>
          </a:solidFill>
        </p:spPr>
      </p:sp>
      <p:sp>
        <p:nvSpPr>
          <p:cNvPr id="4" name="Text 2"/>
          <p:cNvSpPr/>
          <p:nvPr/>
        </p:nvSpPr>
        <p:spPr>
          <a:xfrm>
            <a:off x="640080" y="457200"/>
            <a:ext cx="91440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&amp; 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280160"/>
            <a:ext cx="2679192" cy="3246120"/>
          </a:xfrm>
          <a:prstGeom prst="roundRect">
            <a:avLst>
              <a:gd name="adj" fmla="val 3072"/>
            </a:avLst>
          </a:prstGeom>
          <a:solidFill>
            <a:srgbClr val="1C2158"/>
          </a:solidFill>
        </p:spPr>
      </p:sp>
      <p:sp>
        <p:nvSpPr>
          <p:cNvPr id="6" name="Shape 4"/>
          <p:cNvSpPr/>
          <p:nvPr/>
        </p:nvSpPr>
        <p:spPr>
          <a:xfrm>
            <a:off x="1632204" y="1508760"/>
            <a:ext cx="694944" cy="694944"/>
          </a:xfrm>
          <a:prstGeom prst="ellipse">
            <a:avLst/>
          </a:prstGeom>
          <a:solidFill>
            <a:srgbClr val="0E9C86"/>
          </a:solidFill>
        </p:spPr>
      </p:sp>
      <p:pic>
        <p:nvPicPr>
          <p:cNvPr id="7" name="Image 0" descr="/home/claude/proj/icons_awar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6796" y="1673352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2331720"/>
            <a:ext cx="2404872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STUDENTS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724912"/>
            <a:ext cx="240487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Copilot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68680" y="3246120"/>
            <a:ext cx="2221992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3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via the GitHub Student Developer Pack, and the most-taught tool in courses and bootcamps.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3410712" y="1280160"/>
            <a:ext cx="2679192" cy="3246120"/>
          </a:xfrm>
          <a:prstGeom prst="roundRect">
            <a:avLst>
              <a:gd name="adj" fmla="val 3072"/>
            </a:avLst>
          </a:prstGeom>
          <a:solidFill>
            <a:srgbClr val="1C2158"/>
          </a:solidFill>
        </p:spPr>
      </p:sp>
      <p:sp>
        <p:nvSpPr>
          <p:cNvPr id="12" name="Shape 9"/>
          <p:cNvSpPr/>
          <p:nvPr/>
        </p:nvSpPr>
        <p:spPr>
          <a:xfrm>
            <a:off x="4402836" y="1508760"/>
            <a:ext cx="694944" cy="694944"/>
          </a:xfrm>
          <a:prstGeom prst="ellipse">
            <a:avLst/>
          </a:prstGeom>
          <a:solidFill>
            <a:srgbClr val="0E9C86"/>
          </a:solidFill>
        </p:spPr>
      </p:sp>
      <p:pic>
        <p:nvPicPr>
          <p:cNvPr id="13" name="Image 1" descr="/home/claude/proj/icons_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428" y="167335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331720"/>
            <a:ext cx="2404872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PROFESSIONALS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547872" y="2724912"/>
            <a:ext cx="240487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Cursor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3639312" y="3246120"/>
            <a:ext cx="2221992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3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Deepest codebase context and agentic power for fast, large-scale production refactors.</a:t>
            </a:r>
            <a:endParaRPr lang="en-US" sz="1030" dirty="0"/>
          </a:p>
        </p:txBody>
      </p:sp>
      <p:sp>
        <p:nvSpPr>
          <p:cNvPr id="17" name="Shape 13"/>
          <p:cNvSpPr/>
          <p:nvPr/>
        </p:nvSpPr>
        <p:spPr>
          <a:xfrm>
            <a:off x="6181344" y="1280160"/>
            <a:ext cx="2679192" cy="3246120"/>
          </a:xfrm>
          <a:prstGeom prst="roundRect">
            <a:avLst>
              <a:gd name="adj" fmla="val 3072"/>
            </a:avLst>
          </a:prstGeom>
          <a:solidFill>
            <a:srgbClr val="1C2158"/>
          </a:solidFill>
        </p:spPr>
      </p:sp>
      <p:sp>
        <p:nvSpPr>
          <p:cNvPr id="18" name="Shape 14"/>
          <p:cNvSpPr/>
          <p:nvPr/>
        </p:nvSpPr>
        <p:spPr>
          <a:xfrm>
            <a:off x="7173468" y="1508760"/>
            <a:ext cx="694944" cy="694944"/>
          </a:xfrm>
          <a:prstGeom prst="ellipse">
            <a:avLst/>
          </a:prstGeom>
          <a:solidFill>
            <a:srgbClr val="0E9C86"/>
          </a:solidFill>
        </p:spPr>
      </p:sp>
      <p:pic>
        <p:nvPicPr>
          <p:cNvPr id="19" name="Image 2" descr="/home/claude/proj/icons_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060" y="167335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18504" y="2331720"/>
            <a:ext cx="2404872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FREE TOOL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318504" y="2724912"/>
            <a:ext cx="240487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Code Assist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6409944" y="3246120"/>
            <a:ext cx="2221992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3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completions/day at $0, no credit card, plus the largest context window tested.</a:t>
            </a:r>
            <a:endParaRPr lang="en-US" sz="1030" dirty="0"/>
          </a:p>
        </p:txBody>
      </p:sp>
      <p:sp>
        <p:nvSpPr>
          <p:cNvPr id="23" name="Shape 18"/>
          <p:cNvSpPr/>
          <p:nvPr/>
        </p:nvSpPr>
        <p:spPr>
          <a:xfrm>
            <a:off x="8951976" y="1280160"/>
            <a:ext cx="2679192" cy="3246120"/>
          </a:xfrm>
          <a:prstGeom prst="roundRect">
            <a:avLst>
              <a:gd name="adj" fmla="val 3072"/>
            </a:avLst>
          </a:prstGeom>
          <a:solidFill>
            <a:srgbClr val="1C2158"/>
          </a:solidFill>
        </p:spPr>
      </p:sp>
      <p:sp>
        <p:nvSpPr>
          <p:cNvPr id="24" name="Shape 19"/>
          <p:cNvSpPr/>
          <p:nvPr/>
        </p:nvSpPr>
        <p:spPr>
          <a:xfrm>
            <a:off x="9944100" y="1508760"/>
            <a:ext cx="694944" cy="694944"/>
          </a:xfrm>
          <a:prstGeom prst="ellipse">
            <a:avLst/>
          </a:prstGeom>
          <a:solidFill>
            <a:srgbClr val="0E9C86"/>
          </a:solidFill>
        </p:spPr>
      </p:sp>
      <p:pic>
        <p:nvPicPr>
          <p:cNvPr id="25" name="Image 3" descr="/home/claude/proj/icons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692" y="1673352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089136" y="2331720"/>
            <a:ext cx="2404872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DE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BEST TOOL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089136" y="2724912"/>
            <a:ext cx="240487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Copilot</a:t>
            </a:r>
            <a:endParaRPr lang="en-US" sz="1550" dirty="0"/>
          </a:p>
        </p:txBody>
      </p:sp>
      <p:sp>
        <p:nvSpPr>
          <p:cNvPr id="28" name="Text 22"/>
          <p:cNvSpPr/>
          <p:nvPr/>
        </p:nvSpPr>
        <p:spPr>
          <a:xfrm>
            <a:off x="9180576" y="3246120"/>
            <a:ext cx="2221992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3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Broadest IDE/OS support, mature ecosystem, and flexible pricing from free to enterprise.</a:t>
            </a:r>
            <a:endParaRPr lang="en-US" sz="1030" dirty="0"/>
          </a:p>
        </p:txBody>
      </p:sp>
      <p:sp>
        <p:nvSpPr>
          <p:cNvPr id="29" name="Shape 23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B0D28"/>
          </a:solidFill>
          <a:ln w="12700">
            <a:solidFill>
              <a:srgbClr val="5DE0C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914400" y="4864608"/>
            <a:ext cx="1033272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single best AI coding tool — only the best fit for the task. Students and budget-conscious learners get outstanding value from free tiers; professional teams shipping production code justify premium, agent-heavy plans. Understanding these trade-offs is the real skill this assignment builds.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Assignment · Coding Tools Category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-Times New Roman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8800</Words>
  <Application>WPS Spreadsheets</Application>
  <PresentationFormat>Widescreen</PresentationFormat>
  <Paragraphs>397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32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Cambria</vt:lpstr>
      <vt:lpstr>Cambria</vt:lpstr>
      <vt:lpstr>Cambria</vt:lpstr>
      <vt:lpstr>苹方-简</vt:lpstr>
      <vt:lpstr>Courier New</vt:lpstr>
      <vt:lpstr>Courier New</vt:lpstr>
      <vt:lpstr>Courier New</vt:lpstr>
      <vt:lpstr>Arial</vt:lpstr>
      <vt:lpstr>Times New Roman</vt:lpstr>
      <vt:lpstr>Microsoft YaHei</vt:lpstr>
      <vt:lpstr>汉仪旗黑</vt:lpstr>
      <vt:lpstr>Arial Unicode MS</vt:lpstr>
      <vt:lpstr>汉仪书宋二KW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jmastersglobalofficial.com</dc:creator>
  <dc:subject>PptxGenJS Presentation</dc:subject>
  <cp:lastModifiedBy>uanderson</cp:lastModifiedBy>
  <cp:revision>6</cp:revision>
  <dcterms:created xsi:type="dcterms:W3CDTF">2026-07-26T05:45:46Z</dcterms:created>
  <dcterms:modified xsi:type="dcterms:W3CDTF">2026-07-26T05:45:46Z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AD4AFC5C42322023E0C9646AC44089A5_42</vt:lpwstr>
  </property>
  <property fmtid="{D5CDD505-2E9C-101B-9397-08002B2CF9AE}" pid="3" name="KSOProductBuildVer">
    <vt:lpwstr>1033-6.11.0.8615</vt:lpwstr>
  </property>
</Properties>
</file>